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118872" cy="4297680"/>
          </a:xfrm>
          <a:prstGeom prst="rect">
            <a:avLst/>
          </a:prstGeom>
          <a:solidFill>
            <a:srgbClr val="16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234440"/>
            <a:ext cx="9875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 Display"/>
              </a:defRPr>
            </a:pPr>
            <a:r>
              <a:t>SALES &amp; PROFIT</a:t>
            </a:r>
            <a:br/>
            <a:r>
              <a:t>ANALYSIS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CFE0ED"/>
                </a:solidFill>
                <a:latin typeface="Aptos"/>
              </a:defRPr>
            </a:pPr>
            <a:r>
              <a:t>Data Analyst Internship • Task 4: Dashboard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9327" y="4422784"/>
            <a:ext cx="463954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A6A0"/>
                </a:solidFill>
                <a:latin typeface="Aptos"/>
              </a:defRPr>
            </a:pPr>
            <a:r>
              <a:rPr dirty="0"/>
              <a:t>Tool: Tableau Public  |  Dataset: Sample Superstore</a:t>
            </a:r>
            <a:endParaRPr lang="en-US" dirty="0"/>
          </a:p>
          <a:p>
            <a:pPr>
              <a:defRPr sz="1600">
                <a:solidFill>
                  <a:srgbClr val="16A6A0"/>
                </a:solidFill>
                <a:latin typeface="Aptos"/>
              </a:defRPr>
            </a:pPr>
            <a:r>
              <a:rPr lang="en-US" dirty="0"/>
              <a:t>Made By Ankita Taneja</a:t>
            </a:r>
            <a:br>
              <a:rPr lang="en-US" dirty="0"/>
            </a:br>
            <a:r>
              <a:rPr lang="en-US" dirty="0"/>
              <a:t>www.gaiverse.in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01 | Objective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Objective: build an interactive dashboard that helps business stakeholders monitor sales, profitability, order volume, and trends.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Dataset: Sample Superstore, containing order dates, sales, profit, product categories, customer segments, and geographic fields.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Tool: Tableau Public for data visualization and dashboard assembly.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Preparation: checked field types and used measures for total sales, total profit, distinct orders, and profit margin.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02 | KPI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Headline metrics shown in the Tableau workbook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260604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46304" rtlCol="0" anchor="ctr"/>
          <a:lstStyle/>
          <a:p>
            <a:pPr algn="ctr">
              <a:defRPr sz="1100" b="1">
                <a:solidFill>
                  <a:srgbClr val="64748B"/>
                </a:solidFill>
                <a:latin typeface="Aptos"/>
              </a:defRPr>
            </a:pPr>
            <a:r>
              <a:rPr dirty="0"/>
              <a:t>TOTAL SALES</a:t>
            </a:r>
          </a:p>
          <a:p>
            <a:pPr algn="ctr">
              <a:defRPr sz="2500" b="1">
                <a:solidFill>
                  <a:srgbClr val="16A6A0"/>
                </a:solidFill>
                <a:latin typeface="Aptos Display"/>
              </a:defRPr>
            </a:pPr>
            <a:r>
              <a:rPr dirty="0"/>
              <a:t>2,297,201</a:t>
            </a:r>
            <a:endParaRPr lang="en-IN" dirty="0"/>
          </a:p>
          <a:p>
            <a:pPr algn="ctr">
              <a:defRPr sz="900">
                <a:solidFill>
                  <a:srgbClr val="64748B"/>
                </a:solidFill>
                <a:latin typeface="Aptos"/>
              </a:defRPr>
            </a:pPr>
            <a:r>
              <a:rPr lang="en-IN" dirty="0"/>
              <a:t>Dataset currency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1645920"/>
            <a:ext cx="260604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46304" rtlCol="0" anchor="ctr"/>
          <a:lstStyle/>
          <a:p>
            <a:pPr algn="ctr">
              <a:defRPr sz="1100" b="1">
                <a:solidFill>
                  <a:srgbClr val="64748B"/>
                </a:solidFill>
                <a:latin typeface="Aptos"/>
              </a:defRPr>
            </a:pPr>
            <a:r>
              <a:rPr dirty="0"/>
              <a:t>TOTAL PROFIT</a:t>
            </a:r>
          </a:p>
          <a:p>
            <a:pPr algn="ctr">
              <a:defRPr sz="2500" b="1">
                <a:solidFill>
                  <a:srgbClr val="16A6A0"/>
                </a:solidFill>
                <a:latin typeface="Aptos Display"/>
              </a:defRPr>
            </a:pPr>
            <a:r>
              <a:rPr dirty="0"/>
              <a:t>286,397</a:t>
            </a:r>
            <a:endParaRPr lang="en-IN" dirty="0"/>
          </a:p>
          <a:p>
            <a:pPr algn="ctr">
              <a:defRPr sz="900">
                <a:solidFill>
                  <a:srgbClr val="64748B"/>
                </a:solidFill>
                <a:latin typeface="Aptos"/>
              </a:defRPr>
            </a:pPr>
            <a:r>
              <a:rPr lang="en-IN" dirty="0"/>
              <a:t>Approx. from Sample Superstore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23317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46304" rtlCol="0" anchor="ctr"/>
          <a:lstStyle/>
          <a:p>
            <a:pPr algn="ctr">
              <a:defRPr sz="1100" b="1">
                <a:solidFill>
                  <a:srgbClr val="64748B"/>
                </a:solidFill>
                <a:latin typeface="Aptos"/>
              </a:defRPr>
            </a:pPr>
            <a:r>
              <a:rPr dirty="0"/>
              <a:t>DISTINCT ORDERS</a:t>
            </a:r>
          </a:p>
          <a:p>
            <a:pPr algn="ctr">
              <a:defRPr sz="2500" b="1">
                <a:solidFill>
                  <a:srgbClr val="16A6A0"/>
                </a:solidFill>
                <a:latin typeface="Aptos Display"/>
              </a:defRPr>
            </a:pPr>
            <a:r>
              <a:rPr dirty="0"/>
              <a:t>5,009</a:t>
            </a:r>
            <a:endParaRPr lang="en-IN" dirty="0"/>
          </a:p>
          <a:p>
            <a:pPr algn="ctr">
              <a:defRPr sz="900">
                <a:solidFill>
                  <a:srgbClr val="64748B"/>
                </a:solidFill>
                <a:latin typeface="Aptos"/>
              </a:defRPr>
            </a:pPr>
            <a:r>
              <a:rPr lang="en-IN" dirty="0"/>
              <a:t>Distinct order IDs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645920"/>
            <a:ext cx="25146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46304" rtlCol="0" anchor="ctr"/>
          <a:lstStyle/>
          <a:p>
            <a:pPr algn="ctr">
              <a:defRPr sz="1100" b="1">
                <a:solidFill>
                  <a:srgbClr val="64748B"/>
                </a:solidFill>
                <a:latin typeface="Aptos"/>
              </a:defRPr>
            </a:pPr>
            <a:r>
              <a:rPr dirty="0"/>
              <a:t>PROFIT MARGIN</a:t>
            </a:r>
          </a:p>
          <a:p>
            <a:pPr algn="ctr">
              <a:defRPr sz="2500" b="1">
                <a:solidFill>
                  <a:srgbClr val="16A6A0"/>
                </a:solidFill>
                <a:latin typeface="Aptos Display"/>
              </a:defRPr>
            </a:pPr>
            <a:r>
              <a:rPr dirty="0"/>
              <a:t>12.47%</a:t>
            </a:r>
          </a:p>
          <a:p>
            <a:pPr algn="ctr">
              <a:defRPr sz="900">
                <a:solidFill>
                  <a:srgbClr val="64748B"/>
                </a:solidFill>
                <a:latin typeface="Aptos"/>
              </a:defRPr>
            </a:pPr>
            <a:r>
              <a:rPr dirty="0"/>
              <a:t>Profit ÷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Sales measures the overall value of orders.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Profit and profit margin provide a view of business profitability, not just revenue.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035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Distinct orders counts unique Order IDs, rather than individual line items.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03 | Visual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rPr dirty="0"/>
              <a:t>What each chart helps a stakeholder understand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46304" rtlCol="0" anchor="ctr"/>
          <a:lstStyle/>
          <a:p>
            <a:pPr algn="ctr">
              <a:defRPr sz="1100" b="1">
                <a:solidFill>
                  <a:srgbClr val="64748B"/>
                </a:solidFill>
                <a:latin typeface="Aptos"/>
              </a:defRPr>
            </a:pPr>
            <a:r>
              <a:rPr dirty="0"/>
              <a:t>MONTHLY SALES TREND</a:t>
            </a:r>
          </a:p>
          <a:p>
            <a:pPr algn="ctr">
              <a:defRPr sz="2500" b="1">
                <a:solidFill>
                  <a:srgbClr val="16A6A0"/>
                </a:solidFill>
                <a:latin typeface="Aptos Display"/>
              </a:defRPr>
            </a:pPr>
            <a:r>
              <a:rPr dirty="0"/>
              <a:t>Seasonality &amp; peaks</a:t>
            </a:r>
          </a:p>
          <a:p>
            <a:pPr algn="ctr">
              <a:defRPr sz="900">
                <a:solidFill>
                  <a:srgbClr val="64748B"/>
                </a:solidFill>
                <a:latin typeface="Aptos"/>
              </a:defRPr>
            </a:pPr>
            <a:r>
              <a:rPr dirty="0"/>
              <a:t>Line chart by Order 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46304" rtlCol="0" anchor="ctr"/>
          <a:lstStyle/>
          <a:p>
            <a:pPr algn="ctr">
              <a:defRPr sz="1100" b="1">
                <a:solidFill>
                  <a:srgbClr val="64748B"/>
                </a:solidFill>
                <a:latin typeface="Aptos"/>
              </a:defRPr>
            </a:pPr>
            <a:r>
              <a:rPr dirty="0"/>
              <a:t>SALES BY CATEGORY</a:t>
            </a:r>
          </a:p>
          <a:p>
            <a:pPr algn="ctr">
              <a:defRPr sz="2500" b="1">
                <a:solidFill>
                  <a:srgbClr val="16A6A0"/>
                </a:solidFill>
                <a:latin typeface="Aptos Display"/>
              </a:defRPr>
            </a:pPr>
            <a:r>
              <a:rPr dirty="0"/>
              <a:t>Compare categories</a:t>
            </a:r>
          </a:p>
          <a:p>
            <a:pPr algn="ctr">
              <a:defRPr sz="900">
                <a:solidFill>
                  <a:srgbClr val="64748B"/>
                </a:solidFill>
                <a:latin typeface="Aptos"/>
              </a:defRPr>
            </a:pPr>
            <a:r>
              <a:rPr dirty="0"/>
              <a:t>Bar chart by Category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52120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46304" rtlCol="0" anchor="ctr"/>
          <a:lstStyle/>
          <a:p>
            <a:pPr algn="ctr">
              <a:defRPr sz="1100" b="1">
                <a:solidFill>
                  <a:srgbClr val="64748B"/>
                </a:solidFill>
                <a:latin typeface="Aptos"/>
              </a:defRPr>
            </a:pPr>
            <a:r>
              <a:rPr dirty="0"/>
              <a:t>PROFIT BY REGION</a:t>
            </a:r>
          </a:p>
          <a:p>
            <a:pPr algn="ctr">
              <a:defRPr sz="2500" b="1">
                <a:solidFill>
                  <a:srgbClr val="16A6A0"/>
                </a:solidFill>
                <a:latin typeface="Aptos Display"/>
              </a:defRPr>
            </a:pPr>
            <a:r>
              <a:rPr dirty="0"/>
              <a:t>Geographic performance</a:t>
            </a:r>
          </a:p>
          <a:p>
            <a:pPr algn="ctr">
              <a:defRPr sz="900">
                <a:solidFill>
                  <a:srgbClr val="64748B"/>
                </a:solidFill>
                <a:latin typeface="Aptos"/>
              </a:defRPr>
            </a:pPr>
            <a:r>
              <a:rPr dirty="0"/>
              <a:t>Recommended supporting 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154680"/>
            <a:ext cx="52120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46304" rtlCol="0" anchor="ctr"/>
          <a:lstStyle/>
          <a:p>
            <a:pPr algn="ctr">
              <a:defRPr sz="1100" b="1">
                <a:solidFill>
                  <a:srgbClr val="64748B"/>
                </a:solidFill>
                <a:latin typeface="Aptos"/>
              </a:defRPr>
            </a:pPr>
            <a:r>
              <a:rPr dirty="0"/>
              <a:t>INTERACTIVE FILTERS</a:t>
            </a:r>
          </a:p>
          <a:p>
            <a:pPr algn="ctr">
              <a:defRPr sz="2500" b="1">
                <a:solidFill>
                  <a:srgbClr val="16A6A0"/>
                </a:solidFill>
                <a:latin typeface="Aptos Display"/>
              </a:defRPr>
            </a:pPr>
            <a:r>
              <a:rPr dirty="0"/>
              <a:t>Region • Category • Segment</a:t>
            </a:r>
          </a:p>
          <a:p>
            <a:pPr algn="ctr">
              <a:defRPr sz="900">
                <a:solidFill>
                  <a:srgbClr val="64748B"/>
                </a:solidFill>
                <a:latin typeface="Aptos"/>
              </a:defRPr>
            </a:pPr>
            <a:r>
              <a:rPr dirty="0"/>
              <a:t>Add date filter if useful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8348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The monthly trend in the current workbook shows noticeable variation across months, with higher values late in the year.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1500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• Technology has the highest sales among the three categories in the current chart; sales alone do not establish which category is most profitable.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04 | Recommendations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Turn dashboard observations into practical follow-up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Compare sales and profit together before prioritizing a category or region.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Use the monthly trend to investigate peak periods and plan inventory, staffing, and promotions.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Use Region, Category, Segment, and Order Date filters to answer stakeholder questions interactively.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69848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rPr dirty="0"/>
              <a:t>• </a:t>
            </a:r>
            <a:r>
              <a:rPr lang="en-US" dirty="0"/>
              <a:t>Next Work</a:t>
            </a:r>
            <a:r>
              <a:rPr dirty="0"/>
              <a:t>: validate KPI formatting, finish filters, add profit-by-region analysis, and test that filters affect relevant views.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379</Words>
  <Application>Microsoft Office PowerPoint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Ankita Taneja</dc:creator>
  <cp:keywords/>
  <dc:description>generated using python-pptx</dc:description>
  <cp:lastModifiedBy>Ankita taneja</cp:lastModifiedBy>
  <cp:revision>4</cp:revision>
  <cp:lastPrinted>2026-10-14T17:21:35Z</cp:lastPrinted>
  <dcterms:created xsi:type="dcterms:W3CDTF">2013-01-27T09:14:16Z</dcterms:created>
  <dcterms:modified xsi:type="dcterms:W3CDTF">2026-10-14T17:26:14Z</dcterms:modified>
  <cp:category/>
</cp:coreProperties>
</file>